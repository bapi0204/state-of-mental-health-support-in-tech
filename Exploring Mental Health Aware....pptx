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8229600" cx="14630400"/>
  <p:notesSz cx="8229600" cy="14630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18AA7F-F038-448B-A2DE-72A0690E079F}">
  <a:tblStyle styleId="{6018AA7F-F038-448B-A2DE-72A0690E079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_SLIDE">
  <p:cSld name="MASTER_SLID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" name="Google Shape;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11" Type="http://schemas.openxmlformats.org/officeDocument/2006/relationships/image" Target="../media/image9.png"/><Relationship Id="rId10" Type="http://schemas.openxmlformats.org/officeDocument/2006/relationships/image" Target="../media/image11.png"/><Relationship Id="rId9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38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677918"/>
            <a:ext cx="14630399" cy="39468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" name="Google Shape;1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528" y="6199632"/>
            <a:ext cx="13048488" cy="36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/>
          <p:nvPr/>
        </p:nvSpPr>
        <p:spPr>
          <a:xfrm>
            <a:off x="795528" y="4087368"/>
            <a:ext cx="13048488" cy="186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957"/>
              </a:lnSpc>
              <a:spcBef>
                <a:spcPts val="0"/>
              </a:spcBef>
              <a:spcAft>
                <a:spcPts val="0"/>
              </a:spcAft>
              <a:buClr>
                <a:srgbClr val="183983"/>
              </a:buClr>
              <a:buSzPts val="5850"/>
              <a:buFont typeface="Arial"/>
              <a:buNone/>
            </a:pPr>
            <a:r>
              <a:rPr b="0" i="0" lang="en-US" sz="5850" u="none" cap="none" strike="noStrike">
                <a:solidFill>
                  <a:srgbClr val="183983"/>
                </a:solidFill>
                <a:latin typeface="Arial"/>
                <a:ea typeface="Arial"/>
                <a:cs typeface="Arial"/>
                <a:sym typeface="Arial"/>
              </a:rPr>
              <a:t>Exploring Mental Health Awareness and Support in the Tech Industry</a:t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38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" name="Google Shape;2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88373" y="0"/>
            <a:ext cx="14630400" cy="823874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/>
          <p:nvPr/>
        </p:nvSpPr>
        <p:spPr>
          <a:xfrm>
            <a:off x="795528" y="2112264"/>
            <a:ext cx="13048488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957"/>
              </a:lnSpc>
              <a:spcBef>
                <a:spcPts val="0"/>
              </a:spcBef>
              <a:spcAft>
                <a:spcPts val="0"/>
              </a:spcAft>
              <a:buClr>
                <a:srgbClr val="183983"/>
              </a:buClr>
              <a:buSzPts val="5850"/>
              <a:buFont typeface="Arial"/>
              <a:buNone/>
            </a:pPr>
            <a:r>
              <a:rPr lang="en-US" sz="5850">
                <a:solidFill>
                  <a:srgbClr val="183983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5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1024128" y="3529584"/>
            <a:ext cx="59618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2120"/>
              <a:buFont typeface="Arial"/>
              <a:buNone/>
            </a:pPr>
            <a:r>
              <a:rPr lang="en-US" sz="212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1. Project Objective</a:t>
            </a:r>
            <a:endParaRPr sz="21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1024128" y="4544568"/>
            <a:ext cx="59618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2120"/>
              <a:buFont typeface="Arial"/>
              <a:buNone/>
            </a:pPr>
            <a:r>
              <a:rPr lang="en-US" sz="212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3. Key Performance Indicators (KPIs)</a:t>
            </a:r>
            <a:endParaRPr sz="21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1024128" y="5559552"/>
            <a:ext cx="59618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5. Thank You Page</a:t>
            </a:r>
            <a:endParaRPr sz="21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7662672" y="3529584"/>
            <a:ext cx="59618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2120"/>
              <a:buFont typeface="Arial"/>
              <a:buNone/>
            </a:pPr>
            <a:r>
              <a:rPr lang="en-US" sz="212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2. About the Data</a:t>
            </a:r>
            <a:endParaRPr sz="21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7662672" y="4544568"/>
            <a:ext cx="59618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2120"/>
              <a:buFont typeface="Arial"/>
              <a:buNone/>
            </a:pPr>
            <a:r>
              <a:rPr lang="en-US" sz="212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4. Data Dictionary (Sample Overview)</a:t>
            </a:r>
            <a:endParaRPr sz="21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7662672" y="5559552"/>
            <a:ext cx="59618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2120"/>
              <a:buFont typeface="Arial"/>
              <a:buNone/>
            </a:pPr>
            <a:r>
              <a:rPr lang="en-US" sz="212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1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" name="Google Shape;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38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626833"/>
            <a:ext cx="14630400" cy="3649393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/>
          <p:nvPr/>
        </p:nvSpPr>
        <p:spPr>
          <a:xfrm>
            <a:off x="795528" y="3813048"/>
            <a:ext cx="13048488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83983"/>
              </a:buClr>
              <a:buSzPts val="4240"/>
              <a:buFont typeface="Arial"/>
              <a:buNone/>
            </a:pPr>
            <a:r>
              <a:rPr lang="en-US" sz="4240">
                <a:solidFill>
                  <a:srgbClr val="183983"/>
                </a:solidFill>
                <a:latin typeface="Arial"/>
                <a:ea typeface="Arial"/>
                <a:cs typeface="Arial"/>
                <a:sym typeface="Arial"/>
              </a:rPr>
              <a:t>1. Project Objective</a:t>
            </a:r>
            <a:endParaRPr sz="42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795528" y="5047488"/>
            <a:ext cx="1304848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2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project explores mental health awareness, perception, and support in the tech industry, analyzing how workplace culture, stress, and policies influence employee well-being and highlight gaps in organizational support.</a:t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795528" y="5596128"/>
            <a:ext cx="1304848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2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0"/>
              <a:buFont typeface="Calibri"/>
              <a:buNone/>
            </a:pPr>
            <a:r>
              <a:t/>
            </a:r>
            <a:endParaRPr sz="16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38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" name="Google Shape;4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4630400" cy="8238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" name="Google Shape;4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6384" y="1883664"/>
            <a:ext cx="4270248" cy="2651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" name="Google Shape;5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384" y="4663440"/>
            <a:ext cx="4270248" cy="2395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" name="Google Shape;5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84648" y="1883664"/>
            <a:ext cx="4270248" cy="2651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" name="Google Shape;5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84648" y="4663440"/>
            <a:ext cx="4270248" cy="2395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" name="Google Shape;5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92056" y="1883664"/>
            <a:ext cx="4270248" cy="2651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" name="Google Shape;54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7552" y="2761488"/>
            <a:ext cx="3867912" cy="1563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7552" y="5541264"/>
            <a:ext cx="3867912" cy="13167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" name="Google Shape;56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85816" y="2761488"/>
            <a:ext cx="3867912" cy="1563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85816" y="5541264"/>
            <a:ext cx="3867912" cy="13167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" name="Google Shape;58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93224" y="2761488"/>
            <a:ext cx="3867912" cy="1563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9264" y="206654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9264" y="4846320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" name="Google Shape;61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76672" y="206654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76672" y="4846320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74936" y="2066544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/>
          <p:nvPr/>
        </p:nvSpPr>
        <p:spPr>
          <a:xfrm>
            <a:off x="795528" y="1197864"/>
            <a:ext cx="1304848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42"/>
              </a:lnSpc>
              <a:spcBef>
                <a:spcPts val="0"/>
              </a:spcBef>
              <a:spcAft>
                <a:spcPts val="0"/>
              </a:spcAft>
              <a:buClr>
                <a:srgbClr val="183983"/>
              </a:buClr>
              <a:buSzPts val="3180"/>
              <a:buFont typeface="Arial"/>
              <a:buNone/>
            </a:pPr>
            <a:r>
              <a:rPr lang="en-US" sz="3180">
                <a:solidFill>
                  <a:srgbClr val="183983"/>
                </a:solidFill>
                <a:latin typeface="Arial"/>
                <a:ea typeface="Arial"/>
                <a:cs typeface="Arial"/>
                <a:sym typeface="Arial"/>
              </a:rPr>
              <a:t>3. Key Performance Indicators (KPIs)</a:t>
            </a:r>
            <a:endParaRPr sz="3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1170432" y="2176272"/>
            <a:ext cx="137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555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987552" y="2761488"/>
            <a:ext cx="3867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590"/>
              <a:buFont typeface="Arial"/>
              <a:buNone/>
            </a:pPr>
            <a:r>
              <a:rPr lang="en-US" sz="159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Employer Mental Health Benefits</a:t>
            </a:r>
            <a:endParaRPr sz="15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987552" y="3163824"/>
            <a:ext cx="3867912" cy="905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57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270"/>
              <a:buFont typeface="Arial"/>
              <a:buNone/>
            </a:pPr>
            <a:r>
              <a:rPr lang="en-US" sz="127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 “Does your employer provide mental health benefits as part of healthcare coverage?” Measures how well companies support mental wellness through formal benefits.</a:t>
            </a:r>
            <a:endParaRPr sz="12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1170432" y="4956048"/>
            <a:ext cx="137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555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987552" y="5541264"/>
            <a:ext cx="3867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590"/>
              <a:buFont typeface="Arial"/>
              <a:buNone/>
            </a:pPr>
            <a:r>
              <a:rPr lang="en-US" sz="159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Professional Help Seeking Behavior</a:t>
            </a:r>
            <a:endParaRPr sz="15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5577840" y="2176272"/>
            <a:ext cx="137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555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987552" y="5952744"/>
            <a:ext cx="3867912" cy="905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57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270"/>
              <a:buFont typeface="Arial"/>
              <a:buNone/>
            </a:pPr>
            <a:r>
              <a:rPr lang="en-US" sz="127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 “Have you ever sought treatment for a mental health issue from a professional?” Indicates personal engagement, awareness, and accessibility of care.</a:t>
            </a:r>
            <a:endParaRPr sz="12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5385816" y="2761488"/>
            <a:ext cx="386791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590"/>
              <a:buFont typeface="Arial"/>
              <a:buNone/>
            </a:pPr>
            <a:r>
              <a:rPr lang="en-US" sz="159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Workplace Attitude Toward Mental Health</a:t>
            </a:r>
            <a:endParaRPr sz="15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5385816" y="3419856"/>
            <a:ext cx="3867912" cy="905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57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270"/>
              <a:buFont typeface="Arial"/>
              <a:buNone/>
            </a:pPr>
            <a:r>
              <a:rPr lang="en-US" sz="127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 “Do you feel that your employer takes mental health as seriously as physical health?” Evaluates overall corporate awareness and prioritization of mental well-being.</a:t>
            </a:r>
            <a:endParaRPr sz="12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5577840" y="4956048"/>
            <a:ext cx="137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555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5385816" y="5541264"/>
            <a:ext cx="3867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590"/>
              <a:buFont typeface="Arial"/>
              <a:buNone/>
            </a:pPr>
            <a:r>
              <a:rPr lang="en-US" sz="159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Geographic Context</a:t>
            </a:r>
            <a:endParaRPr sz="15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5385816" y="5952744"/>
            <a:ext cx="38679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57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270"/>
              <a:buFont typeface="Arial"/>
              <a:buNone/>
            </a:pPr>
            <a:r>
              <a:rPr lang="en-US" sz="127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 “What country do you live/work in?” Enables cross-country comparison and cultural insight into mental health awareness.</a:t>
            </a:r>
            <a:endParaRPr sz="12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9793224" y="2761488"/>
            <a:ext cx="3867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590"/>
              <a:buFont typeface="Arial"/>
              <a:buNone/>
            </a:pPr>
            <a:r>
              <a:rPr lang="en-US" sz="159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Comfort Level in Discussion</a:t>
            </a:r>
            <a:endParaRPr sz="15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9985248" y="2176272"/>
            <a:ext cx="137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555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9793224" y="3163824"/>
            <a:ext cx="3867912" cy="905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57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270"/>
              <a:buFont typeface="Arial"/>
              <a:buNone/>
            </a:pPr>
            <a:r>
              <a:rPr lang="en-US" sz="127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 “Would you feel comfortable discussing a mental health disorder with your coworkers or supervisor(s)?” Reflects openness, stigma levels, and safety in communication.</a:t>
            </a:r>
            <a:endParaRPr sz="12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5" name="Google Shape;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38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6" name="Google Shape;8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4630400" cy="8238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7" name="Google Shape;8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808" y="2944368"/>
            <a:ext cx="4233672" cy="1426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8" name="Google Shape;8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5528" y="4614810"/>
            <a:ext cx="4233672" cy="13013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9" name="Google Shape;8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02936" y="2944368"/>
            <a:ext cx="4233672" cy="1426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0" name="Google Shape;9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02936" y="4626863"/>
            <a:ext cx="4233672" cy="12893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8632" y="2944368"/>
            <a:ext cx="4233672" cy="142646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/>
          <p:nvPr/>
        </p:nvSpPr>
        <p:spPr>
          <a:xfrm>
            <a:off x="795528" y="1170432"/>
            <a:ext cx="13048488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83983"/>
              </a:buClr>
              <a:buSzPts val="4240"/>
              <a:buFont typeface="Arial"/>
              <a:buNone/>
            </a:pPr>
            <a:r>
              <a:rPr lang="en-US" sz="4240">
                <a:solidFill>
                  <a:srgbClr val="183983"/>
                </a:solidFill>
                <a:latin typeface="Arial"/>
                <a:ea typeface="Arial"/>
                <a:cs typeface="Arial"/>
                <a:sym typeface="Arial"/>
              </a:rPr>
              <a:t>2. About the Data</a:t>
            </a:r>
            <a:endParaRPr sz="42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795528" y="2093976"/>
            <a:ext cx="1304848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236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690"/>
              <a:buFont typeface="Arial"/>
              <a:buNone/>
            </a:pPr>
            <a:r>
              <a:rPr lang="en-US" sz="169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The dataset contains survey responses from employees across various countries and organizations within the tech sector. It includes information about:</a:t>
            </a:r>
            <a:endParaRPr sz="16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1149858" y="3267524"/>
            <a:ext cx="372160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236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690"/>
              <a:buFont typeface="Arial"/>
              <a:buNone/>
            </a:pPr>
            <a:r>
              <a:rPr lang="en-US" sz="169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 Demographics such as country of work/residence.</a:t>
            </a:r>
            <a:endParaRPr sz="16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1074420" y="4837176"/>
            <a:ext cx="3872484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236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690"/>
              <a:buFont typeface="Arial"/>
              <a:buNone/>
            </a:pPr>
            <a:r>
              <a:rPr lang="en-US" sz="169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Comfort levels in discussing mental health issues with colleagues and supervisors.</a:t>
            </a:r>
            <a:endParaRPr sz="16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795528" y="5916168"/>
            <a:ext cx="1304848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236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690"/>
              <a:buFont typeface="Arial"/>
              <a:buNone/>
            </a:pPr>
            <a:r>
              <a:rPr lang="en-US" sz="169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Each response represents a personal perspective, giving insight into both organizational behavior and employee mindset regarding mental wellness. The data allows for regional and cultural comparisons, highlighting where support systems are stronger or weaker.</a:t>
            </a:r>
            <a:endParaRPr sz="16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5458968" y="3200400"/>
            <a:ext cx="372160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236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690"/>
              <a:buFont typeface="Arial"/>
              <a:buNone/>
            </a:pPr>
            <a:r>
              <a:rPr lang="en-US" sz="169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 Company policies related to mental health coverage and support.</a:t>
            </a:r>
            <a:endParaRPr sz="16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5588231" y="4951473"/>
            <a:ext cx="3717036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236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690"/>
              <a:buFont typeface="Arial"/>
              <a:buNone/>
            </a:pPr>
            <a:r>
              <a:rPr lang="en-US" sz="169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 Individual experiences with seeking professional mental health treatment.</a:t>
            </a:r>
            <a:endParaRPr sz="16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9884664" y="3049524"/>
            <a:ext cx="37216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236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690"/>
              <a:buFont typeface="Arial"/>
              <a:buNone/>
            </a:pPr>
            <a:r>
              <a:rPr lang="en-US" sz="169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Employee perceptions  of workplace attitudes toward mental health.</a:t>
            </a:r>
            <a:endParaRPr sz="16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5" name="Google Shape;1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387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" name="Google Shape;106;p9"/>
          <p:cNvGraphicFramePr/>
          <p:nvPr/>
        </p:nvGraphicFramePr>
        <p:xfrm>
          <a:off x="795528" y="15270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{6018AA7F-F038-448B-A2DE-72A0690E079F}</a:tableStyleId>
              </a:tblPr>
              <a:tblGrid>
                <a:gridCol w="6510525"/>
                <a:gridCol w="6510525"/>
              </a:tblGrid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B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E9EFF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398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B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E9EFF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3983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 group of the respondent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Gender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Gender identity of the respondent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Country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Country of residence or work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Mental_Health_Benefits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Whether employer provides mental health benefits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</a:tr>
              <a:tr h="70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Seriousness_of_Mental_Health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Perception of whether employer takes mental health as seriously as physical health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Comfort_Discussing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Comfort level discussing mental health with colleagues/supervisors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Sought_Treatment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Whether respondent has sought professional mental health treatment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Tech_Company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Indicates if the respondent works in a technology-focused company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Remote_Work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Indicates if the respondent works remotely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Work_Interference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1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748"/>
                        </a:buClr>
                        <a:buSzPts val="1270"/>
                        <a:buFont typeface="Arial"/>
                        <a:buNone/>
                      </a:pPr>
                      <a:r>
                        <a:rPr lang="en-US" sz="1270" u="none" cap="none" strike="noStrike">
                          <a:solidFill>
                            <a:srgbClr val="172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often mental health interferes with work performance</a:t>
                      </a:r>
                      <a:endParaRPr sz="1200" u="none" cap="none" strike="noStrike"/>
                    </a:p>
                  </a:txBody>
                  <a:tcPr marT="101600" marB="101600" marR="168900" marL="1689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3FA"/>
                    </a:solidFill>
                  </a:tcPr>
                </a:tc>
              </a:tr>
            </a:tbl>
          </a:graphicData>
        </a:graphic>
      </p:graphicFrame>
      <p:sp>
        <p:nvSpPr>
          <p:cNvPr id="107" name="Google Shape;107;p9"/>
          <p:cNvSpPr/>
          <p:nvPr/>
        </p:nvSpPr>
        <p:spPr>
          <a:xfrm>
            <a:off x="795528" y="832104"/>
            <a:ext cx="1304848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42"/>
              </a:lnSpc>
              <a:spcBef>
                <a:spcPts val="0"/>
              </a:spcBef>
              <a:spcAft>
                <a:spcPts val="0"/>
              </a:spcAft>
              <a:buClr>
                <a:srgbClr val="183983"/>
              </a:buClr>
              <a:buSzPts val="3180"/>
              <a:buFont typeface="Arial"/>
              <a:buNone/>
            </a:pPr>
            <a:r>
              <a:rPr lang="en-US" sz="3180">
                <a:solidFill>
                  <a:srgbClr val="183983"/>
                </a:solidFill>
                <a:latin typeface="Arial"/>
                <a:ea typeface="Arial"/>
                <a:cs typeface="Arial"/>
                <a:sym typeface="Arial"/>
              </a:rPr>
              <a:t>4. Data Dictionary (Sample Overview)</a:t>
            </a:r>
            <a:endParaRPr sz="3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795528" y="7187184"/>
            <a:ext cx="130484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57"/>
              </a:lnSpc>
              <a:spcBef>
                <a:spcPts val="0"/>
              </a:spcBef>
              <a:spcAft>
                <a:spcPts val="0"/>
              </a:spcAft>
              <a:buClr>
                <a:srgbClr val="172748"/>
              </a:buClr>
              <a:buSzPts val="1270"/>
              <a:buFont typeface="Arial"/>
              <a:buNone/>
            </a:pPr>
            <a:r>
              <a:rPr lang="en-US" sz="1270">
                <a:solidFill>
                  <a:srgbClr val="172748"/>
                </a:solidFill>
                <a:latin typeface="Arial"/>
                <a:ea typeface="Arial"/>
                <a:cs typeface="Arial"/>
                <a:sym typeface="Arial"/>
              </a:rPr>
              <a:t>(You can assume other columns capture similar qualitative or demographic factors.)</a:t>
            </a:r>
            <a:endParaRPr sz="12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38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5" name="Google Shape;11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4630400" cy="8238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/>
          <p:nvPr/>
        </p:nvSpPr>
        <p:spPr>
          <a:xfrm>
            <a:off x="795528" y="3529584"/>
            <a:ext cx="13048488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957"/>
              </a:lnSpc>
              <a:spcBef>
                <a:spcPts val="0"/>
              </a:spcBef>
              <a:spcAft>
                <a:spcPts val="0"/>
              </a:spcAft>
              <a:buClr>
                <a:srgbClr val="183983"/>
              </a:buClr>
              <a:buSzPts val="5850"/>
              <a:buFont typeface="Arial"/>
              <a:buNone/>
            </a:pPr>
            <a:r>
              <a:rPr lang="en-US" sz="5850">
                <a:solidFill>
                  <a:srgbClr val="183983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5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